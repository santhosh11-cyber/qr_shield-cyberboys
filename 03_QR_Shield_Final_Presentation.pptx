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66760" y="-548640"/>
            <a:ext cx="4480560" cy="4480560"/>
          </a:xfrm>
          <a:prstGeom prst="ellipse">
            <a:avLst/>
          </a:prstGeom>
          <a:solidFill>
            <a:srgbClr val="183957"/>
          </a:solidFill>
          <a:ln>
            <a:solidFill>
              <a:srgbClr val="18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228600"/>
            <a:ext cx="2926080" cy="2926080"/>
          </a:xfrm>
          <a:prstGeom prst="ellipse">
            <a:avLst/>
          </a:prstGeom>
          <a:solidFill>
            <a:srgbClr val="194E67"/>
          </a:solidFill>
          <a:ln>
            <a:solidFill>
              <a:srgbClr val="194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57232" y="941832"/>
            <a:ext cx="1508760" cy="1508760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>
            <a:off x="10177272" y="1225296"/>
            <a:ext cx="868680" cy="987552"/>
          </a:xfrm>
          <a:prstGeom prst="homePlat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41864" y="1426464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3000" b="1" i="0">
                <a:solidFill>
                  <a:srgbClr val="00969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4ABECD"/>
                </a:solidFill>
                <a:latin typeface="Aptos"/>
              </a:defRPr>
            </a:pPr>
            <a:r>
              <a:t>PROSCULPT  •  HACKATHON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132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4600" b="1" i="0">
                <a:solidFill>
                  <a:srgbClr val="FFFFFF"/>
                </a:solidFill>
                <a:latin typeface="Aptos"/>
              </a:defRPr>
            </a:pPr>
            <a:r>
              <a:t>QR SHIELD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300" b="0" i="0">
                <a:solidFill>
                  <a:srgbClr val="BCDEEA"/>
                </a:solidFill>
                <a:latin typeface="Aptos"/>
              </a:defRPr>
            </a:pPr>
            <a:r>
              <a:t>Scan smart. Think before you click.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035808"/>
            <a:ext cx="1051560" cy="54864"/>
          </a:xfrm>
          <a:prstGeom prst="rect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FFFFFF"/>
                </a:solidFill>
                <a:latin typeface="Aptos"/>
              </a:defRPr>
            </a:pPr>
            <a:r>
              <a:t>A QR safety companion that helps users inspect a destination</a:t>
            </a:r>
          </a:p>
          <a:p>
            <a:pPr algn="l">
              <a:spcAft>
                <a:spcPts val="500"/>
              </a:spcAft>
              <a:defRPr sz="1700" b="0" i="0">
                <a:solidFill>
                  <a:srgbClr val="FFFFFF"/>
                </a:solidFill>
                <a:latin typeface="Aptos"/>
              </a:defRPr>
            </a:pPr>
            <a:r>
              <a:t>before deciding whether to open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73659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4ABECD"/>
                </a:solidFill>
                <a:latin typeface="Aptos"/>
              </a:defRPr>
            </a:pPr>
            <a:r>
              <a:t>TEAM CYBER BOYS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07492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Vishnu Varadhan T S  •  Santhoshn V 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Santhosh K  •  Sandeep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26364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AFC5D9"/>
                </a:solidFill>
                <a:latin typeface="Aptos"/>
              </a:defRPr>
            </a:pPr>
            <a:r>
              <a:t>FINAL PRESENTATION  |  5-MINUTE 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2362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1200" b="1" i="0">
                <a:solidFill>
                  <a:srgbClr val="4ABEC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69C"/>
                </a:solidFill>
                <a:latin typeface="Aptos"/>
              </a:defRPr>
            </a:pPr>
            <a:r>
              <a:t>PROSCULPT  /  CYBER BOYS  /  QR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5B6C84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22340"/>
                </a:solidFill>
                <a:latin typeface="Aptos"/>
              </a:defRPr>
            </a:pPr>
            <a:r>
              <a:t>A familiar QR code can hide an unfamiliar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The danger is not the square image itself — it is what happens after the scan.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C84"/>
                </a:solidFill>
                <a:latin typeface="Aptos"/>
              </a:defRPr>
            </a:pPr>
            <a:r>
              <a:t>02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594360" cy="41148"/>
          </a:xfrm>
          <a:prstGeom prst="rect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CE7F0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SCAN SMART. THINK BEFORE YOU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57400"/>
            <a:ext cx="65836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0969C"/>
                </a:solidFill>
                <a:latin typeface="Aptos"/>
              </a:defRPr>
            </a:pPr>
            <a:r>
              <a:t>WHAT CAN GO WRONG?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2871215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88920"/>
            <a:ext cx="560527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23046"/>
                </a:solidFill>
                <a:latin typeface="Aptos"/>
              </a:defRPr>
            </a:pPr>
            <a:r>
              <a:t>A sticker or poster may replace a legitimate QR code.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594608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12312"/>
            <a:ext cx="560527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23046"/>
                </a:solidFill>
                <a:latin typeface="Aptos"/>
              </a:defRPr>
            </a:pPr>
            <a:r>
              <a:t>A QR destination may lead to phishing or a look-alike domain.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318000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35704"/>
            <a:ext cx="560527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23046"/>
                </a:solidFill>
                <a:latin typeface="Aptos"/>
              </a:defRPr>
            </a:pPr>
            <a:r>
              <a:t>Short links and redirects can make the destination harder to judge.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5041392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959096"/>
            <a:ext cx="560527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23046"/>
                </a:solidFill>
                <a:latin typeface="Aptos"/>
              </a:defRPr>
            </a:pPr>
            <a:r>
              <a:t>Users may enter passwords, OTPs, or payment details too quickly.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2057400"/>
            <a:ext cx="4114800" cy="361188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4505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0969C"/>
                </a:solidFill>
                <a:latin typeface="Aptos"/>
              </a:defRPr>
            </a:pPr>
            <a:r>
              <a:t>THE KEY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971800"/>
            <a:ext cx="32461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122340"/>
                </a:solidFill>
                <a:latin typeface="Aptos"/>
              </a:defRPr>
            </a:pPr>
            <a:r>
              <a:t>A QR code is a container for content — not proof that the destination or payment recipient is trustworthy.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4892040"/>
            <a:ext cx="32461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2" y="4946903"/>
            <a:ext cx="3099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69C"/>
                </a:solidFill>
                <a:latin typeface="Aptos"/>
              </a:defRPr>
            </a:pPr>
            <a:r>
              <a:t>PAUSE  •  INSPECT  •  DECIDE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69C"/>
                </a:solidFill>
                <a:latin typeface="Aptos"/>
              </a:defRPr>
            </a:pPr>
            <a:r>
              <a:t>PROSCULPT  /  CYBER BOYS  /  QR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5B6C84"/>
                </a:solidFill>
                <a:latin typeface="Aptos"/>
              </a:defRPr>
            </a:pPr>
            <a:r>
              <a:t>02 / WHO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22340"/>
                </a:solidFill>
                <a:latin typeface="Aptos"/>
              </a:defRPr>
            </a:pPr>
            <a:r>
              <a:t>Designed for everyday QR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Start with the people who scan codes in public, at shops, on campus, and online.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C84"/>
                </a:solidFill>
                <a:latin typeface="Aptos"/>
              </a:defRPr>
            </a:pPr>
            <a:r>
              <a:t>03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594360" cy="41148"/>
          </a:xfrm>
          <a:prstGeom prst="rect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CE7F0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SCAN SMART. THINK BEFORE YOU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17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606040"/>
            <a:ext cx="438912" cy="438912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679192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218688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22340"/>
                </a:solidFill>
                <a:latin typeface="Aptos"/>
              </a:defRPr>
            </a:pPr>
            <a:r>
              <a:t>Students &amp; shoppers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767328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Scan posters, menus, event pages, and public notices.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3317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90872" y="2606040"/>
            <a:ext cx="438912" cy="438912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679192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3218688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22340"/>
                </a:solidFill>
                <a:latin typeface="Aptos"/>
              </a:defRPr>
            </a:pPr>
            <a:r>
              <a:t>UPI &amp; mobile-payment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767328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Need to check where a code leads before taking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3317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85632" y="2606040"/>
            <a:ext cx="438912" cy="438912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2679192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218688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22340"/>
                </a:solidFill>
                <a:latin typeface="Aptos"/>
              </a:defRPr>
            </a:pPr>
            <a:r>
              <a:t>Small businesses &amp; campuses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3767328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Can use awareness tools to help people scan more carefully.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92040"/>
            <a:ext cx="11155680" cy="804672"/>
          </a:xfrm>
          <a:prstGeom prst="roundRect">
            <a:avLst/>
          </a:prstGeom>
          <a:solidFill>
            <a:srgbClr val="E1F7F2"/>
          </a:solidFill>
          <a:ln w="12700">
            <a:solidFill>
              <a:srgbClr val="E1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138928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9856F"/>
                </a:solidFill>
                <a:latin typeface="Aptos"/>
              </a:defRPr>
            </a:pPr>
            <a:r>
              <a:t>VALIDATION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5074920"/>
            <a:ext cx="8732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23046"/>
                </a:solidFill>
                <a:latin typeface="Aptos"/>
              </a:defRPr>
            </a:pPr>
            <a:r>
              <a:t>These are target-user assumptions. Next step: interview 10–15 users and test whether explanations improve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69C"/>
                </a:solidFill>
                <a:latin typeface="Aptos"/>
              </a:defRPr>
            </a:pPr>
            <a:r>
              <a:t>PROSCULPT  /  CYBER BOYS  /  QR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5B6C84"/>
                </a:solidFill>
                <a:latin typeface="Aptos"/>
              </a:defRPr>
            </a:pPr>
            <a:r>
              <a:t>03 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22340"/>
                </a:solidFill>
                <a:latin typeface="Aptos"/>
              </a:defRPr>
            </a:pPr>
            <a:r>
              <a:t>Three steps between scanning and trusting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QR Shield adds a review step before users open a destination.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C84"/>
                </a:solidFill>
                <a:latin typeface="Aptos"/>
              </a:defRPr>
            </a:pPr>
            <a:r>
              <a:t>04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594360" cy="41148"/>
          </a:xfrm>
          <a:prstGeom prst="rect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CE7F0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SCAN SMART. THINK BEFORE YOU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31720"/>
            <a:ext cx="3401568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606040"/>
            <a:ext cx="438912" cy="438912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2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122340"/>
                </a:solidFill>
                <a:latin typeface="Aptos"/>
              </a:defRPr>
            </a:pPr>
            <a:r>
              <a:t>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39312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0969C"/>
                </a:solidFill>
                <a:latin typeface="Aptos"/>
              </a:defRPr>
            </a:pPr>
            <a:r>
              <a:t>Camera • QR image • pasted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Capture the QR content using an available input method.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1" y="3337560"/>
            <a:ext cx="3474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969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2331720"/>
            <a:ext cx="3401568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36592" y="2606040"/>
            <a:ext cx="438912" cy="438912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2679192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320040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122340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3639312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0969C"/>
                </a:solidFill>
                <a:latin typeface="Aptos"/>
              </a:defRPr>
            </a:pPr>
            <a:r>
              <a:t>Risk indicators • domain • payload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4224528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Review rule-based warnings and useful destination details.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3337560"/>
            <a:ext cx="3474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00969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2752" y="2331720"/>
            <a:ext cx="3401568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58784" y="2606040"/>
            <a:ext cx="438912" cy="438912"/>
          </a:xfrm>
          <a:prstGeom prst="ellipse">
            <a:avLst/>
          </a:prstGeom>
          <a:solidFill>
            <a:srgbClr val="19856F"/>
          </a:solidFill>
          <a:ln>
            <a:solidFill>
              <a:srgbClr val="198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58784" y="2679192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320040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122340"/>
                </a:solidFill>
                <a:latin typeface="Aptos"/>
              </a:defRPr>
            </a:pPr>
            <a:r>
              <a:t>ACT SAFELY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8784" y="3639312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0969C"/>
                </a:solidFill>
                <a:latin typeface="Aptos"/>
              </a:defRPr>
            </a:pPr>
            <a:r>
              <a:t>Read guidance • export report • pause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8784" y="4224528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Use the findings to decide whether to continue.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69C"/>
                </a:solidFill>
                <a:latin typeface="Aptos"/>
              </a:defRPr>
            </a:pPr>
            <a:r>
              <a:t>CORE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528523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22340"/>
                </a:solidFill>
                <a:latin typeface="Aptos"/>
              </a:defRPr>
            </a:pPr>
            <a:r>
              <a:t>Help people pause and inspect — without claiming any scan result guarantees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69C"/>
                </a:solidFill>
                <a:latin typeface="Aptos"/>
              </a:defRPr>
            </a:pPr>
            <a:r>
              <a:t>PROSCULPT  /  CYBER BOYS  /  QR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5B6C84"/>
                </a:solidFill>
                <a:latin typeface="Aptos"/>
              </a:defRPr>
            </a:pPr>
            <a:r>
              <a:t>04 / PROTOTYPE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22340"/>
                </a:solidFill>
                <a:latin typeface="Aptos"/>
              </a:defRPr>
            </a:pPr>
            <a:r>
              <a:t>What the current browser prototype can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Feature inventory based on the supplied HTML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C84"/>
                </a:solidFill>
                <a:latin typeface="Aptos"/>
              </a:defRPr>
            </a:pPr>
            <a:r>
              <a:t>05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594360" cy="41148"/>
          </a:xfrm>
          <a:prstGeom prst="rect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CE7F0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SCAN SMART. THINK BEFORE YOU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84831"/>
            <a:ext cx="52852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59" y="2286000"/>
            <a:ext cx="457200" cy="457200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3957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0969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2231136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340"/>
                </a:solidFill>
                <a:latin typeface="Aptos"/>
              </a:defRPr>
            </a:pPr>
            <a:r>
              <a:t>QR scanning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2542032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5B6C84"/>
                </a:solidFill>
                <a:latin typeface="Aptos"/>
              </a:defRPr>
            </a:pPr>
            <a:r>
              <a:t>Camera scanner and QR-image upload; depends on browser/device support.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084831"/>
            <a:ext cx="52852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1" y="2286000"/>
            <a:ext cx="457200" cy="457200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23957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0969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599" y="2231136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340"/>
                </a:solidFill>
                <a:latin typeface="Aptos"/>
              </a:defRPr>
            </a:pPr>
            <a:r>
              <a:t>URL risk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2542032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5B6C84"/>
                </a:solidFill>
                <a:latin typeface="Aptos"/>
              </a:defRPr>
            </a:pPr>
            <a:r>
              <a:t>Rule-based SAFE / CAUTION / RISK heuristic score and findings.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91839"/>
            <a:ext cx="52852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59" y="3493008"/>
            <a:ext cx="457200" cy="457200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60273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0969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7" y="343814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340"/>
                </a:solidFill>
                <a:latin typeface="Aptos"/>
              </a:defRPr>
            </a:pPr>
            <a:r>
              <a:t>Alert &amp;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749039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5B6C84"/>
                </a:solidFill>
                <a:latin typeface="Aptos"/>
              </a:defRPr>
            </a:pPr>
            <a:r>
              <a:t>Sound alert for high-risk results and scan history.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291839"/>
            <a:ext cx="52852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73951" y="3493008"/>
            <a:ext cx="457200" cy="457200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1" y="360273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0969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599" y="343814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340"/>
                </a:solidFill>
                <a:latin typeface="Aptos"/>
              </a:defRPr>
            </a:pPr>
            <a:r>
              <a:t>Payload 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3749039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5B6C84"/>
                </a:solidFill>
                <a:latin typeface="Aptos"/>
              </a:defRPr>
            </a:pPr>
            <a:r>
              <a:t>Detects URL, Wi-Fi, contact, UPI, phone, email, and other payload types.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498848"/>
            <a:ext cx="52852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59" y="4700016"/>
            <a:ext cx="457200" cy="457200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8097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0969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35607" y="464515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340"/>
                </a:solidFill>
                <a:latin typeface="Aptos"/>
              </a:defRPr>
            </a:pPr>
            <a:r>
              <a:t>Reports &amp; exports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35607" y="4956048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5B6C84"/>
                </a:solidFill>
                <a:latin typeface="Aptos"/>
              </a:defRPr>
            </a:pPr>
            <a:r>
              <a:t>QR generation, metadata inspection, SHA-256 fingerprint, CSV/JSON export.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4498848"/>
            <a:ext cx="528523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73951" y="4700016"/>
            <a:ext cx="457200" cy="457200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1" y="48097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0969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464515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340"/>
                </a:solidFill>
                <a:latin typeface="Aptos"/>
              </a:defRPr>
            </a:pPr>
            <a:r>
              <a:t>MR.Shield guide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599" y="4956048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5B6C84"/>
                </a:solidFill>
                <a:latin typeface="Aptos"/>
              </a:defRPr>
            </a:pPr>
            <a:r>
              <a:t>Built-in rule-based guidance; not connected to a live AI model.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8064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0969C"/>
                </a:solidFill>
                <a:latin typeface="Aptos"/>
              </a:defRPr>
            </a:pPr>
            <a:r>
              <a:t>DEMO FLOW: Scan or paste a test URL → inspect findings → show payload/history → explain the limitations.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69C"/>
                </a:solidFill>
                <a:latin typeface="Aptos"/>
              </a:defRPr>
            </a:pPr>
            <a:r>
              <a:t>PROSCULPT  /  CYBER BOYS  /  QR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5B6C84"/>
                </a:solidFill>
                <a:latin typeface="Aptos"/>
              </a:defRPr>
            </a:pPr>
            <a:r>
              <a:t>05 /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22340"/>
                </a:solidFill>
                <a:latin typeface="Aptos"/>
              </a:defRPr>
            </a:pPr>
            <a:r>
              <a:t>A lightweight, browser-side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The supplied app performs its current analysis locally in HTML and JavaScript.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C84"/>
                </a:solidFill>
                <a:latin typeface="Aptos"/>
              </a:defRPr>
            </a:pPr>
            <a:r>
              <a:t>06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594360" cy="41148"/>
          </a:xfrm>
          <a:prstGeom prst="rect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CE7F0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SCAN SMART. THINK BEFORE YOU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14600"/>
            <a:ext cx="1965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" y="2724912"/>
            <a:ext cx="1627632" cy="310896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2779776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6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218688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22340"/>
                </a:solidFill>
                <a:latin typeface="Aptos"/>
              </a:defRPr>
            </a:pPr>
            <a:r>
              <a:t>Camera / image /</a:t>
            </a:r>
          </a:p>
          <a:p>
            <a:pPr algn="ctr">
              <a:spcAft>
                <a:spcPts val="500"/>
              </a:spcAft>
              <a:defRPr sz="1300" b="1" i="0">
                <a:solidFill>
                  <a:srgbClr val="122340"/>
                </a:solidFill>
                <a:latin typeface="Aptos"/>
              </a:defRPr>
            </a:pPr>
            <a:r>
              <a:t>pasted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3063240"/>
            <a:ext cx="329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00969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2072" y="2514600"/>
            <a:ext cx="1965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26664" y="2724912"/>
            <a:ext cx="1627632" cy="310896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9816" y="2779776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69C"/>
                </a:solidFill>
                <a:latin typeface="Aptos"/>
              </a:defRPr>
            </a:pPr>
            <a:r>
              <a:t>DECODE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3218688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22340"/>
                </a:solidFill>
                <a:latin typeface="Aptos"/>
              </a:defRPr>
            </a:pPr>
            <a:r>
              <a:t>html5-qrcode</a:t>
            </a:r>
          </a:p>
          <a:p>
            <a:pPr algn="ctr">
              <a:spcAft>
                <a:spcPts val="500"/>
              </a:spcAft>
              <a:defRPr sz="1300" b="1" i="0">
                <a:solidFill>
                  <a:srgbClr val="122340"/>
                </a:solidFill>
                <a:latin typeface="Aptos"/>
              </a:defRPr>
            </a:pPr>
            <a:r>
              <a:t>QR decoding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063240"/>
            <a:ext cx="329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00969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21224" y="2514600"/>
            <a:ext cx="1965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85816" y="2724912"/>
            <a:ext cx="1627632" cy="310896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58968" y="2779776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69C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3218688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22340"/>
                </a:solidFill>
                <a:latin typeface="Aptos"/>
              </a:defRPr>
            </a:pPr>
            <a:r>
              <a:t>JavaScript URL &amp;</a:t>
            </a:r>
          </a:p>
          <a:p>
            <a:pPr algn="ctr">
              <a:spcAft>
                <a:spcPts val="500"/>
              </a:spcAft>
              <a:defRPr sz="1300" b="1" i="0">
                <a:solidFill>
                  <a:srgbClr val="122340"/>
                </a:solidFill>
                <a:latin typeface="Aptos"/>
              </a:defRPr>
            </a:pPr>
            <a:r>
              <a:t>payload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3063240"/>
            <a:ext cx="329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00969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0376" y="2514600"/>
            <a:ext cx="1965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44968" y="2724912"/>
            <a:ext cx="1627632" cy="310896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2779776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69C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3218688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22340"/>
                </a:solidFill>
                <a:latin typeface="Aptos"/>
              </a:defRPr>
            </a:pPr>
            <a:r>
              <a:t>Risk score +</a:t>
            </a:r>
          </a:p>
          <a:p>
            <a:pPr algn="ctr">
              <a:spcAft>
                <a:spcPts val="500"/>
              </a:spcAft>
              <a:defRPr sz="1300" b="1" i="0">
                <a:solidFill>
                  <a:srgbClr val="122340"/>
                </a:solidFill>
                <a:latin typeface="Aptos"/>
              </a:defRPr>
            </a:pPr>
            <a:r>
              <a:t>findings + guidance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3063240"/>
            <a:ext cx="329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00969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9528" y="2514600"/>
            <a:ext cx="1965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04120" y="2724912"/>
            <a:ext cx="1627632" cy="310896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77272" y="2779776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69C"/>
                </a:solidFill>
                <a:latin typeface="Aptos"/>
              </a:defRPr>
            </a:pPr>
            <a:r>
              <a:t>SAVE /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3218688"/>
            <a:ext cx="1627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22340"/>
                </a:solidFill>
                <a:latin typeface="Aptos"/>
              </a:defRPr>
            </a:pPr>
            <a:r>
              <a:t>History, copy,</a:t>
            </a:r>
          </a:p>
          <a:p>
            <a:pPr algn="ctr">
              <a:spcAft>
                <a:spcPts val="500"/>
              </a:spcAft>
              <a:defRPr sz="1300" b="1" i="0">
                <a:solidFill>
                  <a:srgbClr val="122340"/>
                </a:solidFill>
                <a:latin typeface="Aptos"/>
              </a:defRPr>
            </a:pPr>
            <a:r>
              <a:t>CSV / JSON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617720"/>
            <a:ext cx="10927080" cy="960120"/>
          </a:xfrm>
          <a:prstGeom prst="roundRect">
            <a:avLst/>
          </a:prstGeom>
          <a:solidFill>
            <a:srgbClr val="FFF4DC"/>
          </a:solidFill>
          <a:ln w="12700">
            <a:solidFill>
              <a:srgbClr val="FFF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646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C17D13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48006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340"/>
                </a:solidFill>
                <a:latin typeface="Aptos"/>
              </a:defRPr>
            </a:pPr>
            <a:r>
              <a:t>HTML • CSS • JavaScript • html5-qrcode • qrcodejs • browser Web APIs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230368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5B6C84"/>
                </a:solidFill>
                <a:latin typeface="Aptos"/>
              </a:defRPr>
            </a:pPr>
            <a:r>
              <a:t>No backend or live AI service is present in the supplied prototype.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69C"/>
                </a:solidFill>
                <a:latin typeface="Aptos"/>
              </a:defRPr>
            </a:pPr>
            <a:r>
              <a:t>PROSCULPT  /  CYBER BOYS  /  QR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5B6C84"/>
                </a:solidFill>
                <a:latin typeface="Aptos"/>
              </a:defRPr>
            </a:pPr>
            <a:r>
              <a:t>06 / ENGINEERING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22340"/>
                </a:solidFill>
                <a:latin typeface="Aptos"/>
              </a:defRPr>
            </a:pPr>
            <a:r>
              <a:t>Useful checks — with honest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The prototype applies local rules to identify signals that deserve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C84"/>
                </a:solidFill>
                <a:latin typeface="Aptos"/>
              </a:defRPr>
            </a:pPr>
            <a:r>
              <a:t>07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594360" cy="41148"/>
          </a:xfrm>
          <a:prstGeom prst="rect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CE7F0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SCAN SMART. THINK BEFORE YOU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65836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0969C"/>
                </a:solidFill>
                <a:latin typeface="Aptos"/>
              </a:defRPr>
            </a:pPr>
            <a:r>
              <a:t>CURRENT CHECKS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2962656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2880360"/>
            <a:ext cx="560527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23046"/>
                </a:solidFill>
                <a:latin typeface="Aptos"/>
              </a:defRPr>
            </a:pPr>
            <a:r>
              <a:t>URL normalization and suspicious-pattern checks.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430015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3347720"/>
            <a:ext cx="560527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23046"/>
                </a:solidFill>
                <a:latin typeface="Aptos"/>
              </a:defRPr>
            </a:pPr>
            <a:r>
              <a:t>HTTP, embedded credentials, URL shorteners, IP/punycode, and redirect-like parameters.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4153407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071111"/>
            <a:ext cx="560527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23046"/>
                </a:solidFill>
                <a:latin typeface="Aptos"/>
              </a:defRPr>
            </a:pPr>
            <a:r>
              <a:t>Duplicate URL detection and session history.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620767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538472"/>
            <a:ext cx="560527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23046"/>
                </a:solidFill>
                <a:latin typeface="Aptos"/>
              </a:defRPr>
            </a:pPr>
            <a:r>
              <a:t>QR payload type detection and report/export functions.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148840"/>
            <a:ext cx="4069080" cy="361188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48716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0969C"/>
                </a:solidFill>
                <a:latin typeface="Aptos"/>
              </a:defRPr>
            </a:pPr>
            <a:r>
              <a:t>ENGINEERING TRADE-OFF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971800"/>
            <a:ext cx="3246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122340"/>
                </a:solidFill>
                <a:latin typeface="Aptos"/>
              </a:defRPr>
            </a:pPr>
            <a:r>
              <a:t>Lightweight and privacy-minded, but heuristic checks can miss new scams or flag legitimate URLs.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34340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Evidence gap: no repository history, automated tests, or measured benchmark was supplied.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69C"/>
                </a:solidFill>
                <a:latin typeface="Aptos"/>
              </a:defRPr>
            </a:pPr>
            <a:r>
              <a:t>PROSCULPT  /  CYBER BOYS  /  QR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5B6C84"/>
                </a:solidFill>
                <a:latin typeface="Aptos"/>
              </a:defRPr>
            </a:pPr>
            <a:r>
              <a:t>07 / 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22340"/>
                </a:solidFill>
                <a:latin typeface="Aptos"/>
              </a:defRPr>
            </a:pPr>
            <a:r>
              <a:t>Safer decisions start with clear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QR Shield is a warning aid — not a guarantee, payment verifier, or live threat-intelligence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C84"/>
                </a:solidFill>
                <a:latin typeface="Aptos"/>
              </a:defRPr>
            </a:pPr>
            <a:r>
              <a:t>08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594360" cy="41148"/>
          </a:xfrm>
          <a:prstGeom prst="rect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CE7F0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SCAN SMART. THINK BEFORE YOU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40280"/>
            <a:ext cx="3520440" cy="3337560"/>
          </a:xfrm>
          <a:prstGeom prst="roundRect">
            <a:avLst/>
          </a:prstGeom>
          <a:solidFill>
            <a:srgbClr val="FFE9E8"/>
          </a:solidFill>
          <a:ln w="12700">
            <a:solidFill>
              <a:srgbClr val="FF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420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BE4142"/>
                </a:solidFill>
                <a:latin typeface="Aptos"/>
              </a:defRPr>
            </a:pPr>
            <a:r>
              <a:t>THREATS IT FLAGS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118103"/>
            <a:ext cx="82296" cy="82296"/>
          </a:xfrm>
          <a:prstGeom prst="ellipse">
            <a:avLst/>
          </a:prstGeom>
          <a:solidFill>
            <a:srgbClr val="BE4142"/>
          </a:solidFill>
          <a:ln>
            <a:solidFill>
              <a:srgbClr val="BE4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3035808"/>
            <a:ext cx="277063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23046"/>
                </a:solidFill>
                <a:latin typeface="Aptos"/>
              </a:defRPr>
            </a:pPr>
            <a:r>
              <a:t>Phishing / look-alike URLs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547364"/>
            <a:ext cx="82296" cy="82296"/>
          </a:xfrm>
          <a:prstGeom prst="ellipse">
            <a:avLst/>
          </a:prstGeom>
          <a:solidFill>
            <a:srgbClr val="BE4142"/>
          </a:solidFill>
          <a:ln>
            <a:solidFill>
              <a:srgbClr val="BE4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465068"/>
            <a:ext cx="277063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23046"/>
                </a:solidFill>
                <a:latin typeface="Aptos"/>
              </a:defRPr>
            </a:pPr>
            <a:r>
              <a:t>Unencrypted HTTP and embedded credentials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2656"/>
            <a:ext cx="82296" cy="82296"/>
          </a:xfrm>
          <a:prstGeom prst="ellipse">
            <a:avLst/>
          </a:prstGeom>
          <a:solidFill>
            <a:srgbClr val="BE4142"/>
          </a:solidFill>
          <a:ln>
            <a:solidFill>
              <a:srgbClr val="BE4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150360"/>
            <a:ext cx="277063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23046"/>
                </a:solidFill>
                <a:latin typeface="Aptos"/>
              </a:defRPr>
            </a:pPr>
            <a:r>
              <a:t>Shorteners and redirect-like parameters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917948"/>
            <a:ext cx="82296" cy="82296"/>
          </a:xfrm>
          <a:prstGeom prst="ellipse">
            <a:avLst/>
          </a:prstGeom>
          <a:solidFill>
            <a:srgbClr val="BE4142"/>
          </a:solidFill>
          <a:ln>
            <a:solidFill>
              <a:srgbClr val="BE4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4835652"/>
            <a:ext cx="277063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23046"/>
                </a:solidFill>
                <a:latin typeface="Aptos"/>
              </a:defRPr>
            </a:pPr>
            <a:r>
              <a:t>Duplicate scans and non-web QR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240280"/>
            <a:ext cx="3520440" cy="3337560"/>
          </a:xfrm>
          <a:prstGeom prst="roundRect">
            <a:avLst/>
          </a:prstGeom>
          <a:solidFill>
            <a:srgbClr val="E1F7F2"/>
          </a:solidFill>
          <a:ln w="12700">
            <a:solidFill>
              <a:srgbClr val="E1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5420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9856F"/>
                </a:solidFill>
                <a:latin typeface="Aptos"/>
              </a:defRPr>
            </a:pPr>
            <a:r>
              <a:t>PRIVACY PRACTICES</a:t>
            </a:r>
          </a:p>
        </p:txBody>
      </p:sp>
      <p:sp>
        <p:nvSpPr>
          <p:cNvPr id="23" name="Oval 22"/>
          <p:cNvSpPr/>
          <p:nvPr/>
        </p:nvSpPr>
        <p:spPr>
          <a:xfrm>
            <a:off x="4681728" y="3118103"/>
            <a:ext cx="82296" cy="82296"/>
          </a:xfrm>
          <a:prstGeom prst="ellipse">
            <a:avLst/>
          </a:prstGeom>
          <a:solidFill>
            <a:srgbClr val="19856F"/>
          </a:solidFill>
          <a:ln>
            <a:solidFill>
              <a:srgbClr val="198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82896" y="3035808"/>
            <a:ext cx="277063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23046"/>
                </a:solidFill>
                <a:latin typeface="Aptos"/>
              </a:defRPr>
            </a:pPr>
            <a:r>
              <a:t>Analysis runs in the browser</a:t>
            </a:r>
          </a:p>
        </p:txBody>
      </p:sp>
      <p:sp>
        <p:nvSpPr>
          <p:cNvPr id="25" name="Oval 24"/>
          <p:cNvSpPr/>
          <p:nvPr/>
        </p:nvSpPr>
        <p:spPr>
          <a:xfrm>
            <a:off x="4681728" y="3547364"/>
            <a:ext cx="82296" cy="82296"/>
          </a:xfrm>
          <a:prstGeom prst="ellipse">
            <a:avLst/>
          </a:prstGeom>
          <a:solidFill>
            <a:srgbClr val="19856F"/>
          </a:solidFill>
          <a:ln>
            <a:solidFill>
              <a:srgbClr val="198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82896" y="3465068"/>
            <a:ext cx="277063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23046"/>
                </a:solidFill>
                <a:latin typeface="Aptos"/>
              </a:defRPr>
            </a:pPr>
            <a:r>
              <a:t>History uses browser storage and can be cleared/exported</a:t>
            </a:r>
          </a:p>
        </p:txBody>
      </p:sp>
      <p:sp>
        <p:nvSpPr>
          <p:cNvPr id="27" name="Oval 26"/>
          <p:cNvSpPr/>
          <p:nvPr/>
        </p:nvSpPr>
        <p:spPr>
          <a:xfrm>
            <a:off x="4681728" y="4232656"/>
            <a:ext cx="82296" cy="82296"/>
          </a:xfrm>
          <a:prstGeom prst="ellipse">
            <a:avLst/>
          </a:prstGeom>
          <a:solidFill>
            <a:srgbClr val="19856F"/>
          </a:solidFill>
          <a:ln>
            <a:solidFill>
              <a:srgbClr val="198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82896" y="4150360"/>
            <a:ext cx="277063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23046"/>
                </a:solidFill>
                <a:latin typeface="Aptos"/>
              </a:defRPr>
            </a:pPr>
            <a:r>
              <a:t>Review QR payloads privately before sharing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2240280"/>
            <a:ext cx="3520440" cy="3337560"/>
          </a:xfrm>
          <a:prstGeom prst="roundRect">
            <a:avLst/>
          </a:prstGeom>
          <a:solidFill>
            <a:srgbClr val="FFF4DC"/>
          </a:solidFill>
          <a:ln w="12700">
            <a:solidFill>
              <a:srgbClr val="FFF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25420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C17D13"/>
                </a:solidFill>
                <a:latin typeface="Aptos"/>
              </a:defRPr>
            </a:pPr>
            <a:r>
              <a:t>CURRENT LIMITS</a:t>
            </a:r>
          </a:p>
        </p:txBody>
      </p:sp>
      <p:sp>
        <p:nvSpPr>
          <p:cNvPr id="31" name="Oval 30"/>
          <p:cNvSpPr/>
          <p:nvPr/>
        </p:nvSpPr>
        <p:spPr>
          <a:xfrm>
            <a:off x="8522208" y="3118103"/>
            <a:ext cx="82296" cy="82296"/>
          </a:xfrm>
          <a:prstGeom prst="ellipse">
            <a:avLst/>
          </a:prstGeom>
          <a:solidFill>
            <a:srgbClr val="C17D13"/>
          </a:solidFill>
          <a:ln>
            <a:solidFill>
              <a:srgbClr val="C17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23376" y="3035808"/>
            <a:ext cx="277063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23046"/>
                </a:solidFill>
                <a:latin typeface="Aptos"/>
              </a:defRPr>
            </a:pPr>
            <a:r>
              <a:t>No live reputation lookup or final redirect inspection</a:t>
            </a:r>
          </a:p>
        </p:txBody>
      </p:sp>
      <p:sp>
        <p:nvSpPr>
          <p:cNvPr id="33" name="Oval 32"/>
          <p:cNvSpPr/>
          <p:nvPr/>
        </p:nvSpPr>
        <p:spPr>
          <a:xfrm>
            <a:off x="8522208" y="3803396"/>
            <a:ext cx="82296" cy="82296"/>
          </a:xfrm>
          <a:prstGeom prst="ellipse">
            <a:avLst/>
          </a:prstGeom>
          <a:solidFill>
            <a:srgbClr val="C17D13"/>
          </a:solidFill>
          <a:ln>
            <a:solidFill>
              <a:srgbClr val="C17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23376" y="3721100"/>
            <a:ext cx="277063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23046"/>
                </a:solidFill>
                <a:latin typeface="Aptos"/>
              </a:defRPr>
            </a:pPr>
            <a:r>
              <a:t>Browser storage is not a secure account system</a:t>
            </a:r>
          </a:p>
        </p:txBody>
      </p:sp>
      <p:sp>
        <p:nvSpPr>
          <p:cNvPr id="35" name="Oval 34"/>
          <p:cNvSpPr/>
          <p:nvPr/>
        </p:nvSpPr>
        <p:spPr>
          <a:xfrm>
            <a:off x="8522208" y="4488688"/>
            <a:ext cx="82296" cy="82296"/>
          </a:xfrm>
          <a:prstGeom prst="ellipse">
            <a:avLst/>
          </a:prstGeom>
          <a:solidFill>
            <a:srgbClr val="C17D13"/>
          </a:solidFill>
          <a:ln>
            <a:solidFill>
              <a:srgbClr val="C17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23376" y="4406392"/>
            <a:ext cx="277063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23046"/>
                </a:solidFill>
                <a:latin typeface="Aptos"/>
              </a:defRPr>
            </a:pPr>
            <a:r>
              <a:t>External CDN libraries require network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22340"/>
                </a:solidFill>
                <a:latin typeface="Aptos"/>
              </a:defRPr>
            </a:pPr>
            <a:r>
              <a:t>IMPORTANT: A “SAFE” label does not verify a destination; the score is a heuristic, not a fraud probability.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69C"/>
                </a:solidFill>
                <a:latin typeface="Aptos"/>
              </a:defRPr>
            </a:pPr>
            <a:r>
              <a:t>PROSCULPT  /  CYBER BOYS  /  QR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5B6C84"/>
                </a:solidFill>
                <a:latin typeface="Aptos"/>
              </a:defRPr>
            </a:pPr>
            <a:r>
              <a:t>08 /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22340"/>
                </a:solidFill>
                <a:latin typeface="Aptos"/>
              </a:defRPr>
            </a:pPr>
            <a:r>
              <a:t>A focused starting point, not an unproven market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Potential users and use cases to validate through a small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C84"/>
                </a:solidFill>
                <a:latin typeface="Aptos"/>
              </a:defRPr>
            </a:pPr>
            <a:r>
              <a:t>09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594360" cy="41148"/>
          </a:xfrm>
          <a:prstGeom prst="rect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CE7F0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SCAN SMART. THINK BEFORE YOU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94560"/>
            <a:ext cx="52578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0969C"/>
                </a:solidFill>
                <a:latin typeface="Aptos"/>
              </a:defRPr>
            </a:pPr>
            <a:r>
              <a:t>INITIAL USER GROUPS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3054096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971800"/>
            <a:ext cx="432511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23046"/>
                </a:solidFill>
                <a:latin typeface="Aptos"/>
              </a:defRPr>
            </a:pPr>
            <a:r>
              <a:t>Individuals scanning public QR codes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3521456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439160"/>
            <a:ext cx="432511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23046"/>
                </a:solidFill>
                <a:latin typeface="Aptos"/>
              </a:defRPr>
            </a:pPr>
            <a:r>
              <a:t>Small retailers, cafés, campuses, and events</a:t>
            </a:r>
          </a:p>
        </p:txBody>
      </p:sp>
      <p:sp>
        <p:nvSpPr>
          <p:cNvPr id="17" name="Oval 16"/>
          <p:cNvSpPr/>
          <p:nvPr/>
        </p:nvSpPr>
        <p:spPr>
          <a:xfrm>
            <a:off x="987552" y="4244848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162552"/>
            <a:ext cx="432511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23046"/>
                </a:solidFill>
                <a:latin typeface="Aptos"/>
              </a:defRPr>
            </a:pPr>
            <a:r>
              <a:t>Payment-support and cybersecurity-awareness teams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194560"/>
            <a:ext cx="5257800" cy="32461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4871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0969C"/>
                </a:solidFill>
                <a:latin typeface="Aptos"/>
              </a:defRPr>
            </a:pPr>
            <a:r>
              <a:t>HOW WE DIFFERENTIATE</a:t>
            </a:r>
          </a:p>
        </p:txBody>
      </p:sp>
      <p:sp>
        <p:nvSpPr>
          <p:cNvPr id="21" name="Oval 20"/>
          <p:cNvSpPr/>
          <p:nvPr/>
        </p:nvSpPr>
        <p:spPr>
          <a:xfrm>
            <a:off x="6565392" y="3054096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2971800"/>
            <a:ext cx="432511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23046"/>
                </a:solidFill>
                <a:latin typeface="Aptos"/>
              </a:defRPr>
            </a:pPr>
            <a:r>
              <a:t>QR-first workflow</a:t>
            </a:r>
          </a:p>
        </p:txBody>
      </p:sp>
      <p:sp>
        <p:nvSpPr>
          <p:cNvPr id="23" name="Oval 22"/>
          <p:cNvSpPr/>
          <p:nvPr/>
        </p:nvSpPr>
        <p:spPr>
          <a:xfrm>
            <a:off x="6565392" y="3521456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59" y="3439160"/>
            <a:ext cx="432511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23046"/>
                </a:solidFill>
                <a:latin typeface="Aptos"/>
              </a:defRPr>
            </a:pPr>
            <a:r>
              <a:t>Explainable local indicators</a:t>
            </a:r>
          </a:p>
        </p:txBody>
      </p:sp>
      <p:sp>
        <p:nvSpPr>
          <p:cNvPr id="25" name="Oval 24"/>
          <p:cNvSpPr/>
          <p:nvPr/>
        </p:nvSpPr>
        <p:spPr>
          <a:xfrm>
            <a:off x="6565392" y="3988816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59" y="3906520"/>
            <a:ext cx="432511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23046"/>
                </a:solidFill>
                <a:latin typeface="Aptos"/>
              </a:defRPr>
            </a:pPr>
            <a:r>
              <a:t>Payload metadata and duplicate history</a:t>
            </a:r>
          </a:p>
        </p:txBody>
      </p:sp>
      <p:sp>
        <p:nvSpPr>
          <p:cNvPr id="27" name="Oval 26"/>
          <p:cNvSpPr/>
          <p:nvPr/>
        </p:nvSpPr>
        <p:spPr>
          <a:xfrm>
            <a:off x="6565392" y="4456176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4373880"/>
            <a:ext cx="432511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23046"/>
                </a:solidFill>
                <a:latin typeface="Aptos"/>
              </a:defRPr>
            </a:pPr>
            <a:r>
              <a:t>Simple reports for awareness and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22340"/>
                </a:solidFill>
                <a:latin typeface="Aptos"/>
              </a:defRPr>
            </a:pPr>
            <a:r>
              <a:t>NEXT TEST: Pilot with campus groups and small merchants; measure comprehension, repeat use, and false positives.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69C"/>
                </a:solidFill>
                <a:latin typeface="Aptos"/>
              </a:defRPr>
            </a:pPr>
            <a:r>
              <a:t>PROSCULPT  /  CYBER BOYS  /  QR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5B6C84"/>
                </a:solidFill>
                <a:latin typeface="Aptos"/>
              </a:defRPr>
            </a:pPr>
            <a:r>
              <a:t>09 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22340"/>
                </a:solidFill>
                <a:latin typeface="Aptos"/>
              </a:defRPr>
            </a:pPr>
            <a:r>
              <a:t>A proposed model to test with real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The prices below are concepts shown in the prototype — not validated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C84"/>
                </a:solidFill>
                <a:latin typeface="Aptos"/>
              </a:defRPr>
            </a:pPr>
            <a:r>
              <a:t>10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594360" cy="41148"/>
          </a:xfrm>
          <a:prstGeom prst="rect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CE7F0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SCAN SMART. THINK BEFORE YOU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3383280" cy="260604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57860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0969C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03580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500" b="1" i="0">
                <a:solidFill>
                  <a:srgbClr val="122340"/>
                </a:solidFill>
                <a:latin typeface="Aptos"/>
              </a:defRPr>
            </a:pPr>
            <a:r>
              <a:t>₹0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703320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23046"/>
                </a:solidFill>
                <a:latin typeface="Aptos"/>
              </a:defRPr>
            </a:pPr>
            <a:r>
              <a:t>Basic scan, score, and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4988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00969C"/>
                </a:solidFill>
                <a:latin typeface="Aptos"/>
              </a:defRPr>
            </a:pPr>
            <a:r>
              <a:t>ENTRY-LEVEL AWARENESS TOOL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286000"/>
            <a:ext cx="3383280" cy="2606040"/>
          </a:xfrm>
          <a:prstGeom prst="roundRect">
            <a:avLst/>
          </a:prstGeom>
          <a:solidFill>
            <a:srgbClr val="E1F7F2"/>
          </a:solidFill>
          <a:ln w="12700">
            <a:solidFill>
              <a:srgbClr val="E1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257860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9856F"/>
                </a:solidFill>
                <a:latin typeface="Aptos"/>
              </a:defRPr>
            </a:pPr>
            <a: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303580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500" b="1" i="0">
                <a:solidFill>
                  <a:srgbClr val="122340"/>
                </a:solidFill>
                <a:latin typeface="Aptos"/>
              </a:defRPr>
            </a:pPr>
            <a:r>
              <a:t>₹99 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703320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23046"/>
                </a:solidFill>
                <a:latin typeface="Aptos"/>
              </a:defRPr>
            </a:pPr>
            <a:r>
              <a:t>Detailed reports, duplicate warnings, history, exports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44988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9856F"/>
                </a:solidFill>
                <a:latin typeface="Aptos"/>
              </a:defRPr>
            </a:pPr>
            <a:r>
              <a:t>PROPOSED TIER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286000"/>
            <a:ext cx="3383280" cy="2606040"/>
          </a:xfrm>
          <a:prstGeom prst="roundRect">
            <a:avLst/>
          </a:prstGeom>
          <a:solidFill>
            <a:srgbClr val="FFF4DC"/>
          </a:solidFill>
          <a:ln w="12700">
            <a:solidFill>
              <a:srgbClr val="FFF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257860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C17D13"/>
                </a:solidFill>
                <a:latin typeface="Aptos"/>
              </a:defRPr>
            </a:pPr>
            <a:r>
              <a:t>PRO+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303580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500" b="1" i="0">
                <a:solidFill>
                  <a:srgbClr val="122340"/>
                </a:solidFill>
                <a:latin typeface="Aptos"/>
              </a:defRPr>
            </a:pPr>
            <a:r>
              <a:t>₹199 /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3703320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23046"/>
                </a:solidFill>
                <a:latin typeface="Aptos"/>
              </a:defRPr>
            </a:pPr>
            <a:r>
              <a:t>Expanded explanations and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44988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C17D13"/>
                </a:solidFill>
                <a:latin typeface="Aptos"/>
              </a:defRPr>
            </a:pPr>
            <a:r>
              <a:t>PROPOSED TIER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257800"/>
            <a:ext cx="10881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46811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69C"/>
                </a:solidFill>
                <a:latin typeface="Aptos"/>
              </a:defRPr>
            </a:pPr>
            <a:r>
              <a:t>GO-TO-MARKET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404104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22340"/>
                </a:solidFill>
                <a:latin typeface="Aptos"/>
              </a:defRPr>
            </a:pPr>
            <a:r>
              <a:t>Campus demos • merchant onboarding • awareness events • web/app 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598932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5B6C84"/>
                </a:solidFill>
                <a:latin typeface="Aptos"/>
              </a:defRPr>
            </a:pPr>
            <a:r>
              <a:t>Subscription buttons are demo-only and do not process payments. Test willingness to pay before launch.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69C"/>
                </a:solidFill>
                <a:latin typeface="Aptos"/>
              </a:defRPr>
            </a:pPr>
            <a:r>
              <a:t>PROSCULPT  /  CYBER BOYS  /  QR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5B6C84"/>
                </a:solidFill>
                <a:latin typeface="Aptos"/>
              </a:defRPr>
            </a:pPr>
            <a:r>
              <a:t>10 / FINANCIAL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22340"/>
                </a:solidFill>
                <a:latin typeface="Aptos"/>
              </a:defRPr>
            </a:pPr>
            <a:r>
              <a:t>Show the math — and label the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5B6C84"/>
                </a:solidFill>
                <a:latin typeface="Aptos"/>
              </a:defRPr>
            </a:pPr>
            <a:r>
              <a:t>An illustrative scenario, not actual sales, profit, or a validated business forecast.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C84"/>
                </a:solidFill>
                <a:latin typeface="Aptos"/>
              </a:defRPr>
            </a:pPr>
            <a:r>
              <a:t>11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594360" cy="41148"/>
          </a:xfrm>
          <a:prstGeom prst="rect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CE7F0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SCAN SMART. THINK BEFORE YOU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5B6C84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40280"/>
            <a:ext cx="4983480" cy="3246120"/>
          </a:xfrm>
          <a:prstGeom prst="roundRect">
            <a:avLst/>
          </a:prstGeom>
          <a:solidFill>
            <a:srgbClr val="122340"/>
          </a:solidFill>
          <a:ln w="1270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4ABECD"/>
                </a:solidFill>
                <a:latin typeface="Aptos"/>
              </a:defRPr>
            </a:pPr>
            <a:r>
              <a:t>EXAMPLE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3700" b="1" i="0">
                <a:solidFill>
                  <a:srgbClr val="FFFFF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307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CADDEB"/>
                </a:solidFill>
                <a:latin typeface="Aptos"/>
              </a:defRPr>
            </a:pPr>
            <a:r>
              <a:t>Pro subscribers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06324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FFFFFF"/>
                </a:solidFill>
                <a:latin typeface="Aptos"/>
              </a:defRPr>
            </a:pPr>
            <a:r>
              <a:t>× ₹99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73075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CADDEB"/>
                </a:solidFill>
                <a:latin typeface="Aptos"/>
              </a:defRPr>
            </a:pPr>
            <a:r>
              <a:t>per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251960"/>
            <a:ext cx="3611880" cy="22860"/>
          </a:xfrm>
          <a:prstGeom prst="rect">
            <a:avLst/>
          </a:prstGeom>
          <a:solidFill>
            <a:srgbClr val="476784"/>
          </a:solidFill>
          <a:ln>
            <a:solidFill>
              <a:srgbClr val="476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4ABECD"/>
                </a:solidFill>
                <a:latin typeface="Aptos"/>
              </a:defRPr>
            </a:pPr>
            <a:r>
              <a:t>₹9,900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CADDEB"/>
                </a:solidFill>
                <a:latin typeface="Aptos"/>
              </a:defRPr>
            </a:pPr>
            <a:r>
              <a:t>gross monthly revenue before costs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2240280"/>
            <a:ext cx="54406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578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0969C"/>
                </a:solidFill>
                <a:latin typeface="Aptos"/>
              </a:defRPr>
            </a:pPr>
            <a:r>
              <a:t>WHAT MUST BE MEASURED</a:t>
            </a:r>
          </a:p>
        </p:txBody>
      </p:sp>
      <p:sp>
        <p:nvSpPr>
          <p:cNvPr id="22" name="Oval 21"/>
          <p:cNvSpPr/>
          <p:nvPr/>
        </p:nvSpPr>
        <p:spPr>
          <a:xfrm>
            <a:off x="6327648" y="3118103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035808"/>
            <a:ext cx="432511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23046"/>
                </a:solidFill>
                <a:latin typeface="Aptos"/>
              </a:defRPr>
            </a:pPr>
            <a:r>
              <a:t>Hosting and domain costs</a:t>
            </a:r>
          </a:p>
        </p:txBody>
      </p:sp>
      <p:sp>
        <p:nvSpPr>
          <p:cNvPr id="24" name="Oval 23"/>
          <p:cNvSpPr/>
          <p:nvPr/>
        </p:nvSpPr>
        <p:spPr>
          <a:xfrm>
            <a:off x="6327648" y="3585463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3503168"/>
            <a:ext cx="432511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23046"/>
                </a:solidFill>
                <a:latin typeface="Aptos"/>
              </a:defRPr>
            </a:pPr>
            <a:r>
              <a:t>Development and testing effort</a:t>
            </a:r>
          </a:p>
        </p:txBody>
      </p:sp>
      <p:sp>
        <p:nvSpPr>
          <p:cNvPr id="26" name="Oval 25"/>
          <p:cNvSpPr/>
          <p:nvPr/>
        </p:nvSpPr>
        <p:spPr>
          <a:xfrm>
            <a:off x="6327648" y="4052824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3970528"/>
            <a:ext cx="432511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23046"/>
                </a:solidFill>
                <a:latin typeface="Aptos"/>
              </a:defRPr>
            </a:pPr>
            <a:r>
              <a:t>User acquisition and support</a:t>
            </a:r>
          </a:p>
        </p:txBody>
      </p:sp>
      <p:sp>
        <p:nvSpPr>
          <p:cNvPr id="28" name="Oval 27"/>
          <p:cNvSpPr/>
          <p:nvPr/>
        </p:nvSpPr>
        <p:spPr>
          <a:xfrm>
            <a:off x="6327648" y="4520184"/>
            <a:ext cx="82296" cy="82296"/>
          </a:xfrm>
          <a:prstGeom prst="ellipse">
            <a:avLst/>
          </a:prstGeom>
          <a:solidFill>
            <a:srgbClr val="00969C"/>
          </a:solidFill>
          <a:ln>
            <a:solidFill>
              <a:srgbClr val="009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437888"/>
            <a:ext cx="4325112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23046"/>
                </a:solidFill>
                <a:latin typeface="Aptos"/>
              </a:defRPr>
            </a:pPr>
            <a:r>
              <a:t>Payment fees, taxes, and operating costs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22340"/>
                </a:solidFill>
                <a:latin typeface="Aptos"/>
              </a:defRPr>
            </a:pPr>
            <a:r>
              <a:t>Break-even cannot be calculated responsibly until actual costs and pilot data are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4ABECD"/>
                </a:solidFill>
                <a:latin typeface="Aptos"/>
              </a:defRPr>
            </a:pPr>
            <a:r>
              <a:t>PROSCULPT  /  CYBER BOYS  /  QR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BEDAE8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Build trust through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459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BEDAE8"/>
                </a:solidFill>
                <a:latin typeface="Aptos"/>
              </a:defRPr>
            </a:pPr>
            <a:r>
              <a:t>Our 30–60–90 day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31720"/>
            <a:ext cx="3401568" cy="1508760"/>
          </a:xfrm>
          <a:prstGeom prst="roundRect">
            <a:avLst/>
          </a:prstGeom>
          <a:solidFill>
            <a:srgbClr val="1C3553"/>
          </a:solidFill>
          <a:ln w="12700">
            <a:solidFill>
              <a:srgbClr val="3D5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5877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4ABECD"/>
                </a:solidFill>
                <a:latin typeface="Aptos"/>
              </a:defRPr>
            </a:pPr>
            <a:r>
              <a:t>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99232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Interview users, run usability tests, build a curated URL test set, and fix scan/accessibility issues.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2331720"/>
            <a:ext cx="3401568" cy="1508760"/>
          </a:xfrm>
          <a:prstGeom prst="roundRect">
            <a:avLst/>
          </a:prstGeom>
          <a:solidFill>
            <a:srgbClr val="1C3553"/>
          </a:solidFill>
          <a:ln w="12700">
            <a:solidFill>
              <a:srgbClr val="3D5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5877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4ABECD"/>
                </a:solidFill>
                <a:latin typeface="Aptos"/>
              </a:defRPr>
            </a:pPr>
            <a:r>
              <a:t>60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999232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Add safer redirect analysis and optional threat-intelligence integration; automate tests and measure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2331720"/>
            <a:ext cx="3401568" cy="1508760"/>
          </a:xfrm>
          <a:prstGeom prst="roundRect">
            <a:avLst/>
          </a:prstGeom>
          <a:solidFill>
            <a:srgbClr val="1C3553"/>
          </a:solidFill>
          <a:ln w="12700">
            <a:solidFill>
              <a:srgbClr val="3D5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25877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4ABECD"/>
                </a:solidFill>
                <a:latin typeface="Aptos"/>
              </a:defRPr>
            </a:pPr>
            <a:r>
              <a:t>90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999232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Pilot with a campus or merchant group; evaluate comprehension, privacy, retention, and pricing.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51960"/>
            <a:ext cx="6537960" cy="1005840"/>
          </a:xfrm>
          <a:prstGeom prst="roundRect">
            <a:avLst/>
          </a:prstGeom>
          <a:solidFill>
            <a:srgbClr val="1C3553"/>
          </a:solidFill>
          <a:ln w="12700">
            <a:solidFill>
              <a:srgbClr val="3D5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988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4ABECD"/>
                </a:solidFill>
                <a:latin typeface="Aptos"/>
              </a:defRPr>
            </a:pPr>
            <a:r>
              <a:t>OUR 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4348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Mentorship • security testing • pilot users • support for a secure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343400"/>
            <a:ext cx="3429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t>QR 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846320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1700" b="1" i="0">
                <a:solidFill>
                  <a:srgbClr val="4ABECD"/>
                </a:solidFill>
                <a:latin typeface="Aptos"/>
              </a:defRPr>
            </a:pPr>
            <a:r>
              <a:t>Scan smart.</a:t>
            </a:r>
          </a:p>
          <a:p>
            <a:pPr algn="ctr">
              <a:spcAft>
                <a:spcPts val="500"/>
              </a:spcAft>
              <a:defRPr sz="1700" b="1" i="0">
                <a:solidFill>
                  <a:srgbClr val="4ABECD"/>
                </a:solidFill>
                <a:latin typeface="Aptos"/>
              </a:defRPr>
            </a:pPr>
            <a:r>
              <a:t>Think before you click.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8076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BEDAE8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0807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BEDAE8"/>
                </a:solidFill>
                <a:latin typeface="Aptos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Shield — CYBER BOYS Final Hackathon Presentation</dc:title>
  <dc:subject>QR safety companion prototype presentation</dc:subject>
  <dc:creator>CYBER BOYS</dc:creator>
  <cp:keywords>QR Shield, cybersecurity, QR safety, hackathon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